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D2BB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3D5-247B-4F06-B6AE-BE4FB5E3FE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A6BA-67B2-41D3-89A7-D5E46E411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26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3D5-247B-4F06-B6AE-BE4FB5E3FE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A6BA-67B2-41D3-89A7-D5E46E411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5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3D5-247B-4F06-B6AE-BE4FB5E3FE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A6BA-67B2-41D3-89A7-D5E46E411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90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3D5-247B-4F06-B6AE-BE4FB5E3FE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A6BA-67B2-41D3-89A7-D5E46E411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963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3D5-247B-4F06-B6AE-BE4FB5E3FE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A6BA-67B2-41D3-89A7-D5E46E411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1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3D5-247B-4F06-B6AE-BE4FB5E3FE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A6BA-67B2-41D3-89A7-D5E46E411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26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3D5-247B-4F06-B6AE-BE4FB5E3FE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A6BA-67B2-41D3-89A7-D5E46E411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6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3D5-247B-4F06-B6AE-BE4FB5E3FE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A6BA-67B2-41D3-89A7-D5E46E411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67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3D5-247B-4F06-B6AE-BE4FB5E3FE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A6BA-67B2-41D3-89A7-D5E46E411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4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3D5-247B-4F06-B6AE-BE4FB5E3FE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A6BA-67B2-41D3-89A7-D5E46E411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00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3D5-247B-4F06-B6AE-BE4FB5E3FE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A6BA-67B2-41D3-89A7-D5E46E411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236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2D043D5-247B-4F06-B6AE-BE4FB5E3FE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D11A6BA-67B2-41D3-89A7-D5E46E411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638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889D11-52A4-EF17-3201-CB72111C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F1 Pit Stop Strategy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86791-D313-62F5-9434-0339E1383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 Delta and Lap Time Recovery</a:t>
            </a:r>
          </a:p>
        </p:txBody>
      </p:sp>
    </p:spTree>
    <p:extLst>
      <p:ext uri="{BB962C8B-B14F-4D97-AF65-F5344CB8AC3E}">
        <p14:creationId xmlns:p14="http://schemas.microsoft.com/office/powerpoint/2010/main" val="267110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74AD3-93CF-A5AB-6913-BB72BF3D9CE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b="1" dirty="0"/>
              <a:t>Background: 2019 Hungarian GP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A4709F-BBDD-A495-28F1-3D2264DD9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021617"/>
              </p:ext>
            </p:extLst>
          </p:nvPr>
        </p:nvGraphicFramePr>
        <p:xfrm>
          <a:off x="838199" y="1825625"/>
          <a:ext cx="10515601" cy="435133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25524">
                  <a:extLst>
                    <a:ext uri="{9D8B030D-6E8A-4147-A177-3AD203B41FA5}">
                      <a16:colId xmlns:a16="http://schemas.microsoft.com/office/drawing/2014/main" val="3382720833"/>
                    </a:ext>
                  </a:extLst>
                </a:gridCol>
                <a:gridCol w="725524">
                  <a:extLst>
                    <a:ext uri="{9D8B030D-6E8A-4147-A177-3AD203B41FA5}">
                      <a16:colId xmlns:a16="http://schemas.microsoft.com/office/drawing/2014/main" val="4146992065"/>
                    </a:ext>
                  </a:extLst>
                </a:gridCol>
                <a:gridCol w="725524">
                  <a:extLst>
                    <a:ext uri="{9D8B030D-6E8A-4147-A177-3AD203B41FA5}">
                      <a16:colId xmlns:a16="http://schemas.microsoft.com/office/drawing/2014/main" val="811240335"/>
                    </a:ext>
                  </a:extLst>
                </a:gridCol>
                <a:gridCol w="8339029">
                  <a:extLst>
                    <a:ext uri="{9D8B030D-6E8A-4147-A177-3AD203B41FA5}">
                      <a16:colId xmlns:a16="http://schemas.microsoft.com/office/drawing/2014/main" val="1018581347"/>
                    </a:ext>
                  </a:extLst>
                </a:gridCol>
              </a:tblGrid>
              <a:tr h="57088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VER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HAM</a:t>
                      </a:r>
                    </a:p>
                  </a:txBody>
                  <a:tcPr anchor="ctr">
                    <a:solidFill>
                      <a:srgbClr val="51D2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Comments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595241"/>
                  </a:ext>
                </a:extLst>
              </a:tr>
              <a:tr h="75609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 Verstappen maintains pole position, MEDIUM tires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Lewis Hamilton started at P3 and gains a position by end of Lap 1, MEDIUM tires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480416"/>
                  </a:ext>
                </a:extLst>
              </a:tr>
              <a:tr h="75609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Verstappen undercuts and pits early, switching to HARD tires.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8538697"/>
                  </a:ext>
                </a:extLst>
              </a:tr>
              <a:tr h="75609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Hamilton pits, switching to HARD tires.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8313392"/>
                  </a:ext>
                </a:extLst>
              </a:tr>
              <a:tr h="75609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Hamilton pits again, switching to MEDIUM tires.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21363"/>
                  </a:ext>
                </a:extLst>
              </a:tr>
              <a:tr h="75609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Hamilton closes gap to Verstappen. </a:t>
                      </a:r>
                    </a:p>
                    <a:p>
                      <a:r>
                        <a:rPr lang="en-US" dirty="0"/>
                        <a:t>Verstappen pits, giving Hamilton pole position.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7878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4588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D9A56D-C43B-0A5A-F56F-7AAD533E2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51" y="0"/>
            <a:ext cx="11195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223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3831118-5D2A-82CE-58CC-BF4177DB2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06"/>
            <a:ext cx="12192000" cy="58083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9D3456-A24A-E80F-7195-1665D9B34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b="1" dirty="0"/>
              <a:t>Lap 25</a:t>
            </a:r>
            <a:r>
              <a:rPr lang="en-US" dirty="0"/>
              <a:t>: VER undercuts and maintains lead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26BD88-A09B-D156-4FB4-728857E170F5}"/>
              </a:ext>
            </a:extLst>
          </p:cNvPr>
          <p:cNvSpPr/>
          <p:nvPr/>
        </p:nvSpPr>
        <p:spPr>
          <a:xfrm>
            <a:off x="599814" y="1386586"/>
            <a:ext cx="1170264" cy="24328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HAM gap to VER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62A5F3-F22A-F189-02D0-5EBDE8BB28DE}"/>
              </a:ext>
            </a:extLst>
          </p:cNvPr>
          <p:cNvSpPr/>
          <p:nvPr/>
        </p:nvSpPr>
        <p:spPr>
          <a:xfrm>
            <a:off x="7706687" y="2441196"/>
            <a:ext cx="682304" cy="3649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HAM </a:t>
            </a:r>
          </a:p>
          <a:p>
            <a:pPr algn="ctr"/>
            <a:r>
              <a:rPr lang="en-US" sz="1100" dirty="0"/>
              <a:t>pit stop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50F4B7-2BE3-3128-CA01-9EDA6A033BD5}"/>
              </a:ext>
            </a:extLst>
          </p:cNvPr>
          <p:cNvSpPr/>
          <p:nvPr/>
        </p:nvSpPr>
        <p:spPr>
          <a:xfrm>
            <a:off x="3804409" y="1264946"/>
            <a:ext cx="1270932" cy="3649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VER </a:t>
            </a:r>
          </a:p>
          <a:p>
            <a:pPr algn="ctr"/>
            <a:r>
              <a:rPr lang="en-US" sz="1100" dirty="0"/>
              <a:t>undercut pit stop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2FFCF-0B5A-C511-ADD5-D8795AFBCE92}"/>
              </a:ext>
            </a:extLst>
          </p:cNvPr>
          <p:cNvSpPr/>
          <p:nvPr/>
        </p:nvSpPr>
        <p:spPr>
          <a:xfrm>
            <a:off x="10339431" y="3309458"/>
            <a:ext cx="1820411" cy="17700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51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FB682EE-8882-8E6A-520D-E422B8686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06"/>
            <a:ext cx="12192000" cy="58204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E5E698-D372-5831-F248-17CC73DE0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b="1" dirty="0"/>
              <a:t>Lap 48</a:t>
            </a:r>
            <a:r>
              <a:rPr lang="en-US" dirty="0"/>
              <a:t>: HAM pits again and closes gap to VER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E96FF6-ABBA-C2FA-3336-4C1C82608946}"/>
              </a:ext>
            </a:extLst>
          </p:cNvPr>
          <p:cNvSpPr/>
          <p:nvPr/>
        </p:nvSpPr>
        <p:spPr>
          <a:xfrm>
            <a:off x="2220287" y="2602838"/>
            <a:ext cx="682304" cy="3649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HAM </a:t>
            </a:r>
          </a:p>
          <a:p>
            <a:pPr algn="ctr"/>
            <a:r>
              <a:rPr lang="en-US" sz="1100" dirty="0"/>
              <a:t>pit stop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17E004-0801-BC20-5DCB-AA3971E3F38B}"/>
              </a:ext>
            </a:extLst>
          </p:cNvPr>
          <p:cNvCxnSpPr>
            <a:cxnSpLocks/>
          </p:cNvCxnSpPr>
          <p:nvPr/>
        </p:nvCxnSpPr>
        <p:spPr>
          <a:xfrm>
            <a:off x="9378892" y="5075338"/>
            <a:ext cx="0" cy="30403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8DB65F5-167F-B6DD-39B2-76E30B01FFBA}"/>
              </a:ext>
            </a:extLst>
          </p:cNvPr>
          <p:cNvSpPr/>
          <p:nvPr/>
        </p:nvSpPr>
        <p:spPr>
          <a:xfrm>
            <a:off x="7462011" y="4714614"/>
            <a:ext cx="1916881" cy="23714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Growing lap time difference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ED8FC0-D709-619D-2BFA-13D12CB4F1D2}"/>
              </a:ext>
            </a:extLst>
          </p:cNvPr>
          <p:cNvSpPr/>
          <p:nvPr/>
        </p:nvSpPr>
        <p:spPr>
          <a:xfrm>
            <a:off x="307654" y="2875480"/>
            <a:ext cx="1170264" cy="24328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HAM gap to VER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C273E9-1F32-B27D-0FAA-5516D18B630F}"/>
              </a:ext>
            </a:extLst>
          </p:cNvPr>
          <p:cNvSpPr/>
          <p:nvPr/>
        </p:nvSpPr>
        <p:spPr>
          <a:xfrm>
            <a:off x="10339431" y="3309458"/>
            <a:ext cx="1820411" cy="17700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09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C8CB544-4243-79F8-9FCE-F755B6241B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58"/>
          <a:stretch>
            <a:fillRect/>
          </a:stretch>
        </p:blipFill>
        <p:spPr>
          <a:xfrm>
            <a:off x="0" y="1027906"/>
            <a:ext cx="12192000" cy="53474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8BE326-B747-A1F1-CE48-3E141B8C8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b="1" dirty="0"/>
              <a:t>Lap 48</a:t>
            </a:r>
            <a:r>
              <a:rPr lang="en-US" dirty="0"/>
              <a:t>: HAM free pit stop against LEC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ABEF8D-58F4-6A57-0484-BE0FC9E48622}"/>
              </a:ext>
            </a:extLst>
          </p:cNvPr>
          <p:cNvSpPr/>
          <p:nvPr/>
        </p:nvSpPr>
        <p:spPr>
          <a:xfrm>
            <a:off x="509602" y="1971411"/>
            <a:ext cx="1417740" cy="44042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HAM gap to LEC</a:t>
            </a:r>
          </a:p>
          <a:p>
            <a:pPr algn="ctr"/>
            <a:r>
              <a:rPr lang="en-US" sz="1100" b="1" dirty="0"/>
              <a:t>~40s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B5BC403-FE23-B78D-EEE0-67BE11B6EB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222" t="66615" r="64186" b="9012"/>
          <a:stretch>
            <a:fillRect/>
          </a:stretch>
        </p:blipFill>
        <p:spPr>
          <a:xfrm>
            <a:off x="2831284" y="4983060"/>
            <a:ext cx="1535186" cy="14471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6E76C8F-C16C-D801-39DA-5777A95B7122}"/>
              </a:ext>
            </a:extLst>
          </p:cNvPr>
          <p:cNvSpPr/>
          <p:nvPr/>
        </p:nvSpPr>
        <p:spPr>
          <a:xfrm>
            <a:off x="4106410" y="5448651"/>
            <a:ext cx="1223393" cy="58491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HAM doesn’t lose position = “free pit stop”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F29EE2-1587-F409-CCD9-27518AACE0FC}"/>
              </a:ext>
            </a:extLst>
          </p:cNvPr>
          <p:cNvSpPr/>
          <p:nvPr/>
        </p:nvSpPr>
        <p:spPr>
          <a:xfrm>
            <a:off x="10339431" y="3309458"/>
            <a:ext cx="1820411" cy="17700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541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1C9F84-3E33-0B09-332F-2F1C0D536A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6"/>
          <a:stretch>
            <a:fillRect/>
          </a:stretch>
        </p:blipFill>
        <p:spPr>
          <a:xfrm>
            <a:off x="5129868" y="0"/>
            <a:ext cx="2511407" cy="685800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28E83D-D84B-206B-5C09-E46FCBC3F3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5" b="-305"/>
          <a:stretch>
            <a:fillRect/>
          </a:stretch>
        </p:blipFill>
        <p:spPr>
          <a:xfrm>
            <a:off x="2218869" y="0"/>
            <a:ext cx="2540411" cy="6824444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6C164C-C46C-9BB3-98A8-4B4E00BCC8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6" t="47584"/>
          <a:stretch>
            <a:fillRect/>
          </a:stretch>
        </p:blipFill>
        <p:spPr>
          <a:xfrm>
            <a:off x="5129868" y="1686878"/>
            <a:ext cx="2511407" cy="359468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950B0C-F6AB-1015-EDAD-F9498AFF0211}"/>
              </a:ext>
            </a:extLst>
          </p:cNvPr>
          <p:cNvSpPr/>
          <p:nvPr/>
        </p:nvSpPr>
        <p:spPr>
          <a:xfrm>
            <a:off x="5129867" y="461394"/>
            <a:ext cx="2511407" cy="3733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EF2BE4-7FBD-8BD3-EBA2-754A1D73AC25}"/>
              </a:ext>
            </a:extLst>
          </p:cNvPr>
          <p:cNvSpPr/>
          <p:nvPr/>
        </p:nvSpPr>
        <p:spPr>
          <a:xfrm>
            <a:off x="5129866" y="3147264"/>
            <a:ext cx="2511407" cy="3733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BF678BA-AA2C-7CA1-0C31-39383478C641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6385570" y="834705"/>
            <a:ext cx="1" cy="231255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D470D55-CCFF-98E6-4904-DED81865F7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164" b="-305"/>
          <a:stretch>
            <a:fillRect/>
          </a:stretch>
        </p:blipFill>
        <p:spPr>
          <a:xfrm>
            <a:off x="2218868" y="1686878"/>
            <a:ext cx="2540411" cy="355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98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</TotalTime>
  <Words>167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F1 Pit Stop Strategy</vt:lpstr>
      <vt:lpstr>Background: 2019 Hungarian GP</vt:lpstr>
      <vt:lpstr>PowerPoint Presentation</vt:lpstr>
      <vt:lpstr>Lap 25: VER undercuts and maintains lead</vt:lpstr>
      <vt:lpstr>Lap 48: HAM pits again and closes gap to VER</vt:lpstr>
      <vt:lpstr>Lap 48: HAM free pit stop against LEC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Lu</dc:creator>
  <cp:lastModifiedBy>Dan Lu</cp:lastModifiedBy>
  <cp:revision>10</cp:revision>
  <dcterms:created xsi:type="dcterms:W3CDTF">2026-02-18T15:41:35Z</dcterms:created>
  <dcterms:modified xsi:type="dcterms:W3CDTF">2026-02-18T17:46:05Z</dcterms:modified>
</cp:coreProperties>
</file>