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1D2BB"/>
    <a:srgbClr val="00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926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55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7903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9634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316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026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61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67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142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200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236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46387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B889D11-52A4-EF17-3201-CB72111CE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F1 Pit Stop Strategy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A86791-D313-62F5-9434-0339E1383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Driver Delta and Lap Time Recovery</a:t>
            </a:r>
          </a:p>
        </p:txBody>
      </p:sp>
    </p:spTree>
    <p:extLst>
      <p:ext uri="{BB962C8B-B14F-4D97-AF65-F5344CB8AC3E}">
        <p14:creationId xmlns:p14="http://schemas.microsoft.com/office/powerpoint/2010/main" val="267110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74AD3-93CF-A5AB-6913-BB72BF3D9CE1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en-US" b="1" dirty="0"/>
              <a:t>Background: 2019 Hungarian GP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AA4709F-BBDD-A495-28F1-3D2264DD91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7021617"/>
              </p:ext>
            </p:extLst>
          </p:nvPr>
        </p:nvGraphicFramePr>
        <p:xfrm>
          <a:off x="838199" y="1825625"/>
          <a:ext cx="10515601" cy="4351337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25524">
                  <a:extLst>
                    <a:ext uri="{9D8B030D-6E8A-4147-A177-3AD203B41FA5}">
                      <a16:colId xmlns:a16="http://schemas.microsoft.com/office/drawing/2014/main" val="3382720833"/>
                    </a:ext>
                  </a:extLst>
                </a:gridCol>
                <a:gridCol w="725524">
                  <a:extLst>
                    <a:ext uri="{9D8B030D-6E8A-4147-A177-3AD203B41FA5}">
                      <a16:colId xmlns:a16="http://schemas.microsoft.com/office/drawing/2014/main" val="4146992065"/>
                    </a:ext>
                  </a:extLst>
                </a:gridCol>
                <a:gridCol w="725524">
                  <a:extLst>
                    <a:ext uri="{9D8B030D-6E8A-4147-A177-3AD203B41FA5}">
                      <a16:colId xmlns:a16="http://schemas.microsoft.com/office/drawing/2014/main" val="811240335"/>
                    </a:ext>
                  </a:extLst>
                </a:gridCol>
                <a:gridCol w="8339029">
                  <a:extLst>
                    <a:ext uri="{9D8B030D-6E8A-4147-A177-3AD203B41FA5}">
                      <a16:colId xmlns:a16="http://schemas.microsoft.com/office/drawing/2014/main" val="1018581347"/>
                    </a:ext>
                  </a:extLst>
                </a:gridCol>
              </a:tblGrid>
              <a:tr h="570882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Lap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VER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HAM</a:t>
                      </a:r>
                    </a:p>
                  </a:txBody>
                  <a:tcPr anchor="ctr">
                    <a:solidFill>
                      <a:srgbClr val="51D2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Comments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595241"/>
                  </a:ext>
                </a:extLst>
              </a:tr>
              <a:tr h="756091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Max Verstappen maintains pole position, MEDIUM tires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Lewis Hamilton started at P3 and gains a position by end of Lap 1, MEDIUM tires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6480416"/>
                  </a:ext>
                </a:extLst>
              </a:tr>
              <a:tr h="756091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Verstappen undercuts and pits early, switching to HARD tires.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8538697"/>
                  </a:ext>
                </a:extLst>
              </a:tr>
              <a:tr h="756091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Hamilton pits, switching to HARD tires.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8313392"/>
                  </a:ext>
                </a:extLst>
              </a:tr>
              <a:tr h="756091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Hamilton pits again, switching to MEDIUM tires.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221363"/>
                  </a:ext>
                </a:extLst>
              </a:tr>
              <a:tr h="756091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Hamilton closes gap to Verstappen. </a:t>
                      </a:r>
                    </a:p>
                    <a:p>
                      <a:r>
                        <a:rPr lang="en-US" dirty="0"/>
                        <a:t>Verstappen pits, giving Hamilton pole position.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78783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45889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D9A56D-C43B-0A5A-F56F-7AAD533E2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51" y="0"/>
            <a:ext cx="111952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223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3831118-5D2A-82CE-58CC-BF4177DB2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7906"/>
            <a:ext cx="12192000" cy="580830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9D3456-A24A-E80F-7195-1665D9B34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/>
              <a:t>Lap 25</a:t>
            </a:r>
            <a:r>
              <a:rPr lang="en-US" dirty="0"/>
              <a:t>: VER undercuts and maintains lead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26BD88-A09B-D156-4FB4-728857E170F5}"/>
              </a:ext>
            </a:extLst>
          </p:cNvPr>
          <p:cNvSpPr/>
          <p:nvPr/>
        </p:nvSpPr>
        <p:spPr>
          <a:xfrm>
            <a:off x="599814" y="1386586"/>
            <a:ext cx="1581324" cy="24328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HAM gap to 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62A5F3-F22A-F189-02D0-5EBDE8BB28DE}"/>
              </a:ext>
            </a:extLst>
          </p:cNvPr>
          <p:cNvSpPr/>
          <p:nvPr/>
        </p:nvSpPr>
        <p:spPr>
          <a:xfrm>
            <a:off x="7824133" y="2323750"/>
            <a:ext cx="933974" cy="5159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HAM </a:t>
            </a:r>
          </a:p>
          <a:p>
            <a:pPr algn="ctr"/>
            <a:r>
              <a:rPr lang="en-US" sz="1400" dirty="0"/>
              <a:t>pit stop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50F4B7-2BE3-3128-CA01-9EDA6A033BD5}"/>
              </a:ext>
            </a:extLst>
          </p:cNvPr>
          <p:cNvSpPr/>
          <p:nvPr/>
        </p:nvSpPr>
        <p:spPr>
          <a:xfrm>
            <a:off x="4290971" y="1974405"/>
            <a:ext cx="1019261" cy="698689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VER </a:t>
            </a:r>
          </a:p>
          <a:p>
            <a:pPr algn="ctr"/>
            <a:r>
              <a:rPr lang="en-US" sz="1400" dirty="0"/>
              <a:t>undercut </a:t>
            </a:r>
          </a:p>
          <a:p>
            <a:pPr algn="ctr"/>
            <a:r>
              <a:rPr lang="en-US" sz="1400" dirty="0"/>
              <a:t>pit stop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32FFCF-0B5A-C511-ADD5-D8795AFBCE92}"/>
              </a:ext>
            </a:extLst>
          </p:cNvPr>
          <p:cNvSpPr/>
          <p:nvPr/>
        </p:nvSpPr>
        <p:spPr>
          <a:xfrm>
            <a:off x="10339431" y="3309458"/>
            <a:ext cx="1820411" cy="177007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D7265A-42B2-87F2-6203-22806D6E89BE}"/>
              </a:ext>
            </a:extLst>
          </p:cNvPr>
          <p:cNvSpPr/>
          <p:nvPr/>
        </p:nvSpPr>
        <p:spPr>
          <a:xfrm>
            <a:off x="9055916" y="1040235"/>
            <a:ext cx="1195431" cy="5159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VER regains lead</a:t>
            </a:r>
          </a:p>
        </p:txBody>
      </p:sp>
    </p:spTree>
    <p:extLst>
      <p:ext uri="{BB962C8B-B14F-4D97-AF65-F5344CB8AC3E}">
        <p14:creationId xmlns:p14="http://schemas.microsoft.com/office/powerpoint/2010/main" val="3400651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F8F53E9-F55D-A7B6-A4CA-582CCC03A2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32"/>
          <a:stretch>
            <a:fillRect/>
          </a:stretch>
        </p:blipFill>
        <p:spPr>
          <a:xfrm>
            <a:off x="0" y="1027906"/>
            <a:ext cx="12192000" cy="58549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6E5E698-D372-5831-F248-17CC73DE0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/>
              <a:t>Lap 48</a:t>
            </a:r>
            <a:r>
              <a:rPr lang="en-US" dirty="0"/>
              <a:t>: HAM pits again and closes gap to 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E96FF6-ABBA-C2FA-3336-4C1C82608946}"/>
              </a:ext>
            </a:extLst>
          </p:cNvPr>
          <p:cNvSpPr/>
          <p:nvPr/>
        </p:nvSpPr>
        <p:spPr>
          <a:xfrm>
            <a:off x="2128007" y="2353470"/>
            <a:ext cx="992697" cy="45070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HAM </a:t>
            </a:r>
          </a:p>
          <a:p>
            <a:pPr algn="ctr"/>
            <a:r>
              <a:rPr lang="en-US" sz="1400" dirty="0"/>
              <a:t>pit stop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E17E004-0801-BC20-5DCB-AA3971E3F38B}"/>
              </a:ext>
            </a:extLst>
          </p:cNvPr>
          <p:cNvCxnSpPr>
            <a:cxnSpLocks/>
          </p:cNvCxnSpPr>
          <p:nvPr/>
        </p:nvCxnSpPr>
        <p:spPr>
          <a:xfrm>
            <a:off x="8682606" y="5079534"/>
            <a:ext cx="0" cy="304037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68DB65F5-167F-B6DD-39B2-76E30B01FFBA}"/>
              </a:ext>
            </a:extLst>
          </p:cNvPr>
          <p:cNvSpPr/>
          <p:nvPr/>
        </p:nvSpPr>
        <p:spPr>
          <a:xfrm>
            <a:off x="7130647" y="4472278"/>
            <a:ext cx="1551959" cy="55173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Growing lap time difference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ED8FC0-D709-619D-2BFA-13D12CB4F1D2}"/>
              </a:ext>
            </a:extLst>
          </p:cNvPr>
          <p:cNvSpPr/>
          <p:nvPr/>
        </p:nvSpPr>
        <p:spPr>
          <a:xfrm>
            <a:off x="385894" y="2838201"/>
            <a:ext cx="1561808" cy="24328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HAM gap to VER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C273E9-1F32-B27D-0FAA-5516D18B630F}"/>
              </a:ext>
            </a:extLst>
          </p:cNvPr>
          <p:cNvSpPr/>
          <p:nvPr/>
        </p:nvSpPr>
        <p:spPr>
          <a:xfrm>
            <a:off x="10339431" y="3309458"/>
            <a:ext cx="1820411" cy="177007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D1DEF0-8CFC-9C52-401A-68182CFB4702}"/>
              </a:ext>
            </a:extLst>
          </p:cNvPr>
          <p:cNvSpPr/>
          <p:nvPr/>
        </p:nvSpPr>
        <p:spPr>
          <a:xfrm>
            <a:off x="8783273" y="1848391"/>
            <a:ext cx="1352025" cy="45070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HAM </a:t>
            </a:r>
          </a:p>
          <a:p>
            <a:pPr algn="ctr"/>
            <a:r>
              <a:rPr lang="en-US" sz="1400" dirty="0"/>
              <a:t>overtakes VER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EFBA8A-610D-81D2-55D4-F34B14144989}"/>
              </a:ext>
            </a:extLst>
          </p:cNvPr>
          <p:cNvSpPr/>
          <p:nvPr/>
        </p:nvSpPr>
        <p:spPr>
          <a:xfrm>
            <a:off x="10135298" y="5006200"/>
            <a:ext cx="1034642" cy="45070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HAM </a:t>
            </a:r>
          </a:p>
          <a:p>
            <a:pPr algn="ctr"/>
            <a:r>
              <a:rPr lang="en-US" sz="1400" dirty="0"/>
              <a:t>finishes P1</a:t>
            </a:r>
          </a:p>
        </p:txBody>
      </p:sp>
    </p:spTree>
    <p:extLst>
      <p:ext uri="{BB962C8B-B14F-4D97-AF65-F5344CB8AC3E}">
        <p14:creationId xmlns:p14="http://schemas.microsoft.com/office/powerpoint/2010/main" val="635709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7C8CB544-4243-79F8-9FCE-F755B6241B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58"/>
          <a:stretch>
            <a:fillRect/>
          </a:stretch>
        </p:blipFill>
        <p:spPr>
          <a:xfrm>
            <a:off x="0" y="1027906"/>
            <a:ext cx="12192000" cy="5347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8BE326-B747-A1F1-CE48-3E141B8C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/>
              <a:t>Lap 48</a:t>
            </a:r>
            <a:r>
              <a:rPr lang="en-US" dirty="0"/>
              <a:t>: HAM free pit stop against LEC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ABEF8D-58F4-6A57-0484-BE0FC9E48622}"/>
              </a:ext>
            </a:extLst>
          </p:cNvPr>
          <p:cNvSpPr/>
          <p:nvPr/>
        </p:nvSpPr>
        <p:spPr>
          <a:xfrm>
            <a:off x="509601" y="1971411"/>
            <a:ext cx="1700897" cy="44042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HAM gap to LEC</a:t>
            </a:r>
          </a:p>
          <a:p>
            <a:pPr algn="ctr"/>
            <a:r>
              <a:rPr lang="en-US" sz="1400" b="1" dirty="0"/>
              <a:t>~40s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B5BC403-FE23-B78D-EEE0-67BE11B6EB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222" t="66615" r="64186" b="9012"/>
          <a:stretch>
            <a:fillRect/>
          </a:stretch>
        </p:blipFill>
        <p:spPr>
          <a:xfrm>
            <a:off x="2831284" y="4983060"/>
            <a:ext cx="1535186" cy="1447101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6E76C8F-C16C-D801-39DA-5777A95B7122}"/>
              </a:ext>
            </a:extLst>
          </p:cNvPr>
          <p:cNvSpPr/>
          <p:nvPr/>
        </p:nvSpPr>
        <p:spPr>
          <a:xfrm>
            <a:off x="4106410" y="5368954"/>
            <a:ext cx="1467734" cy="664607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/>
              <a:t>HAM doesn’t lose position = “free pit stop”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F29EE2-1587-F409-CCD9-27518AACE0FC}"/>
              </a:ext>
            </a:extLst>
          </p:cNvPr>
          <p:cNvSpPr/>
          <p:nvPr/>
        </p:nvSpPr>
        <p:spPr>
          <a:xfrm>
            <a:off x="10339431" y="3309458"/>
            <a:ext cx="1820411" cy="177007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541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1C9F84-3E33-0B09-332F-2F1C0D536A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76"/>
          <a:stretch>
            <a:fillRect/>
          </a:stretch>
        </p:blipFill>
        <p:spPr>
          <a:xfrm>
            <a:off x="5129868" y="0"/>
            <a:ext cx="2511407" cy="6858000"/>
          </a:xfrm>
          <a:prstGeom prst="rect">
            <a:avLst/>
          </a:prstGeom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328E83D-D84B-206B-5C09-E46FCBC3F3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5" b="-305"/>
          <a:stretch>
            <a:fillRect/>
          </a:stretch>
        </p:blipFill>
        <p:spPr>
          <a:xfrm>
            <a:off x="2218869" y="0"/>
            <a:ext cx="2540411" cy="6824444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6C164C-C46C-9BB3-98A8-4B4E00BCC8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76" t="47584"/>
          <a:stretch>
            <a:fillRect/>
          </a:stretch>
        </p:blipFill>
        <p:spPr>
          <a:xfrm>
            <a:off x="5129868" y="1686878"/>
            <a:ext cx="2511407" cy="359468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0950B0C-F6AB-1015-EDAD-F9498AFF0211}"/>
              </a:ext>
            </a:extLst>
          </p:cNvPr>
          <p:cNvSpPr/>
          <p:nvPr/>
        </p:nvSpPr>
        <p:spPr>
          <a:xfrm>
            <a:off x="5129867" y="461394"/>
            <a:ext cx="2511407" cy="37331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EF2BE4-7FBD-8BD3-EBA2-754A1D73AC25}"/>
              </a:ext>
            </a:extLst>
          </p:cNvPr>
          <p:cNvSpPr/>
          <p:nvPr/>
        </p:nvSpPr>
        <p:spPr>
          <a:xfrm>
            <a:off x="5129866" y="3147264"/>
            <a:ext cx="2511407" cy="37331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BF678BA-AA2C-7CA1-0C31-39383478C64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6385570" y="834705"/>
            <a:ext cx="1" cy="231255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DD470D55-CCFF-98E6-4904-DED81865F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164" b="-305"/>
          <a:stretch>
            <a:fillRect/>
          </a:stretch>
        </p:blipFill>
        <p:spPr>
          <a:xfrm>
            <a:off x="2218868" y="1686878"/>
            <a:ext cx="2540411" cy="3558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098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276CAB-94C6-8737-9954-4D8ED8D988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84"/>
          <a:stretch>
            <a:fillRect/>
          </a:stretch>
        </p:blipFill>
        <p:spPr>
          <a:xfrm>
            <a:off x="3914470" y="1204602"/>
            <a:ext cx="2484851" cy="23364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6180CE6-64E5-B9AD-FE7B-7811CEA6E1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198"/>
          <a:stretch>
            <a:fillRect/>
          </a:stretch>
        </p:blipFill>
        <p:spPr>
          <a:xfrm>
            <a:off x="1555376" y="881429"/>
            <a:ext cx="2115058" cy="1589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006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142</TotalTime>
  <Words>176</Words>
  <Application>Microsoft Office PowerPoint</Application>
  <PresentationFormat>Widescreen</PresentationFormat>
  <Paragraphs>50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F1 Pit Stop Strategy</vt:lpstr>
      <vt:lpstr>Background: 2019 Hungarian GP</vt:lpstr>
      <vt:lpstr>PowerPoint Presentation</vt:lpstr>
      <vt:lpstr>Lap 25: VER undercuts and maintains lead</vt:lpstr>
      <vt:lpstr>Lap 48: HAM pits again and closes gap to VER</vt:lpstr>
      <vt:lpstr>Lap 48: HAM free pit stop against LEC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Lu</dc:creator>
  <cp:lastModifiedBy>Dan Lu</cp:lastModifiedBy>
  <cp:revision>13</cp:revision>
  <dcterms:created xsi:type="dcterms:W3CDTF">2026-02-18T15:41:35Z</dcterms:created>
  <dcterms:modified xsi:type="dcterms:W3CDTF">2026-02-18T19:11:30Z</dcterms:modified>
</cp:coreProperties>
</file>